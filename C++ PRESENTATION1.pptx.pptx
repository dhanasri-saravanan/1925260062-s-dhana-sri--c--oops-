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mbria Bold" charset="1" panose="02040803050406030204"/>
      <p:regular r:id="rId20"/>
    </p:embeddedFont>
    <p:embeddedFont>
      <p:font typeface="Times New Roman Bold" charset="1" panose="02020803070505020304"/>
      <p:regular r:id="rId21"/>
    </p:embeddedFont>
    <p:embeddedFont>
      <p:font typeface="Calibri (MS) Bold" charset="1" panose="020F0702030404030204"/>
      <p:regular r:id="rId25"/>
    </p:embeddedFont>
    <p:embeddedFont>
      <p:font typeface="Cambria" charset="1" panose="02040503050406030204"/>
      <p:regular r:id="rId26"/>
    </p:embeddedFont>
    <p:embeddedFont>
      <p:font typeface="Calibri (MS)" charset="1" panose="020F050202020403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5770" y="256222"/>
            <a:ext cx="17221143" cy="2215791"/>
            <a:chOff x="0" y="0"/>
            <a:chExt cx="22961524" cy="2954388"/>
          </a:xfrm>
        </p:grpSpPr>
        <p:sp>
          <p:nvSpPr>
            <p:cNvPr name="Freeform 3" id="3" descr="SIMATS ENGINEERING —BIOTECHNOLOGY"/>
            <p:cNvSpPr/>
            <p:nvPr/>
          </p:nvSpPr>
          <p:spPr>
            <a:xfrm flipH="false" flipV="false" rot="0">
              <a:off x="0" y="0"/>
              <a:ext cx="22961473" cy="2954401"/>
            </a:xfrm>
            <a:custGeom>
              <a:avLst/>
              <a:gdLst/>
              <a:ahLst/>
              <a:cxnLst/>
              <a:rect r="r" b="b" t="t" l="l"/>
              <a:pathLst>
                <a:path h="2954401" w="22961473">
                  <a:moveTo>
                    <a:pt x="0" y="0"/>
                  </a:moveTo>
                  <a:lnTo>
                    <a:pt x="22961473" y="0"/>
                  </a:lnTo>
                  <a:lnTo>
                    <a:pt x="22961473" y="2954401"/>
                  </a:lnTo>
                  <a:lnTo>
                    <a:pt x="0" y="2954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279159" y="2759512"/>
            <a:ext cx="14014365" cy="278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7"/>
              </a:lnSpc>
            </a:pPr>
            <a:r>
              <a:rPr lang="en-US" sz="57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CampusFlow: An Intelligent Campus Queue Management and Resource Allocation System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19952" y="5861842"/>
            <a:ext cx="1053278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DSA0105A</a:t>
            </a: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-OBJECT ORIENTED PROGRAMING WITH C++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90998" y="7724447"/>
            <a:ext cx="5468303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Guided by :JEGADEESH 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3548" y="7105650"/>
            <a:ext cx="5554028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	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Cheerala Jyothi (192425312)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Anto Princy A (192411071)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 Dhana Sri (1925260062)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M.Sugiritha(192471020)</a:t>
            </a:r>
          </a:p>
          <a:p>
            <a:pPr algn="l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8"/>
            <a:chOff x="0" y="0"/>
            <a:chExt cx="14630400" cy="804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317"/>
            </a:xfrm>
            <a:custGeom>
              <a:avLst/>
              <a:gdLst/>
              <a:ahLst/>
              <a:cxnLst/>
              <a:rect r="r" b="b" t="t" l="l"/>
              <a:pathLst>
                <a:path h="804317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955" r="0" b="-29990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492740" y="2881770"/>
            <a:ext cx="7449649" cy="5209260"/>
          </a:xfrm>
          <a:custGeom>
            <a:avLst/>
            <a:gdLst/>
            <a:ahLst/>
            <a:cxnLst/>
            <a:rect r="r" b="b" t="t" l="l"/>
            <a:pathLst>
              <a:path h="5209260" w="7449649">
                <a:moveTo>
                  <a:pt x="0" y="0"/>
                </a:moveTo>
                <a:lnTo>
                  <a:pt x="7449649" y="0"/>
                </a:lnTo>
                <a:lnTo>
                  <a:pt x="7449649" y="5209260"/>
                </a:lnTo>
                <a:lnTo>
                  <a:pt x="0" y="5209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063" t="-1584" r="0" b="-53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047837" y="958844"/>
            <a:ext cx="4192326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ABSTRACT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5860" y="2284513"/>
            <a:ext cx="9107331" cy="681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9782" indent="-439891" lvl="1">
              <a:lnSpc>
                <a:spcPts val="4889"/>
              </a:lnSpc>
              <a:spcBef>
                <a:spcPct val="0"/>
              </a:spcBef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CampusFlow is an intelligent system for managing campus queues and resources.</a:t>
            </a:r>
          </a:p>
          <a:p>
            <a:pPr algn="l" marL="879782" indent="-439891" lvl="1">
              <a:lnSpc>
                <a:spcPts val="4889"/>
              </a:lnSpc>
              <a:spcBef>
                <a:spcPct val="0"/>
              </a:spcBef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Estimates student waiting times using queue and service data.</a:t>
            </a:r>
          </a:p>
          <a:p>
            <a:pPr algn="l" marL="879782" indent="-439891" lvl="1">
              <a:lnSpc>
                <a:spcPts val="4889"/>
              </a:lnSpc>
              <a:spcBef>
                <a:spcPct val="0"/>
              </a:spcBef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Forecasts crowd congestion using historical demand patterns.</a:t>
            </a:r>
          </a:p>
          <a:p>
            <a:pPr algn="l" marL="879782" indent="-439891" lvl="1">
              <a:lnSpc>
                <a:spcPts val="4889"/>
              </a:lnSpc>
              <a:spcBef>
                <a:spcPct val="0"/>
              </a:spcBef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Recommends suitable counters, staff, and available campus resources.</a:t>
            </a:r>
          </a:p>
          <a:p>
            <a:pPr algn="l" marL="879782" indent="-439891" lvl="1">
              <a:lnSpc>
                <a:spcPts val="4889"/>
              </a:lnSpc>
              <a:spcBef>
                <a:spcPct val="0"/>
              </a:spcBef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Provides dashboards and analytics to support efficient campus operations.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8"/>
            <a:chOff x="0" y="0"/>
            <a:chExt cx="14630400" cy="804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317"/>
            </a:xfrm>
            <a:custGeom>
              <a:avLst/>
              <a:gdLst/>
              <a:ahLst/>
              <a:cxnLst/>
              <a:rect r="r" b="b" t="t" l="l"/>
              <a:pathLst>
                <a:path h="804317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955" r="0" b="-29990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12986" y="1847079"/>
            <a:ext cx="9181210" cy="866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Students experience long queues at canteens and administrative offices.</a:t>
            </a:r>
          </a:p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Lack of real-time information makes waiting times unpredictable.</a:t>
            </a:r>
          </a:p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Uneven demand leads to overcrowded facilities and underutilized resources.</a:t>
            </a:r>
          </a:p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Manual resource allocation makes it difficult to respond to changing demand.</a:t>
            </a:r>
          </a:p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Existing basic token systems may not provide predictive analytics or resource recommendations.</a:t>
            </a:r>
          </a:p>
          <a:p>
            <a:pPr algn="l">
              <a:lnSpc>
                <a:spcPts val="4889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015391" y="2538793"/>
            <a:ext cx="7589520" cy="5539549"/>
          </a:xfrm>
          <a:custGeom>
            <a:avLst/>
            <a:gdLst/>
            <a:ahLst/>
            <a:cxnLst/>
            <a:rect r="r" b="b" t="t" l="l"/>
            <a:pathLst>
              <a:path h="5539549" w="7589520">
                <a:moveTo>
                  <a:pt x="0" y="0"/>
                </a:moveTo>
                <a:lnTo>
                  <a:pt x="7589520" y="0"/>
                </a:lnTo>
                <a:lnTo>
                  <a:pt x="7589520" y="5539549"/>
                </a:lnTo>
                <a:lnTo>
                  <a:pt x="0" y="553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486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638725" y="355588"/>
            <a:ext cx="901055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8"/>
            <a:chOff x="0" y="0"/>
            <a:chExt cx="14630400" cy="804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317"/>
            </a:xfrm>
            <a:custGeom>
              <a:avLst/>
              <a:gdLst/>
              <a:ahLst/>
              <a:cxnLst/>
              <a:rect r="r" b="b" t="t" l="l"/>
              <a:pathLst>
                <a:path h="804317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955" r="0" b="-29990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885196" y="1000125"/>
            <a:ext cx="451760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24012" y="2447925"/>
            <a:ext cx="14205917" cy="681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Develop a C++-based intelligent campus queue management system.</a:t>
            </a:r>
          </a:p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Estimate waiting times and forecast future crowd congestion.</a:t>
            </a:r>
          </a:p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Optimize the allocation of counters, staff, and campus resources.</a:t>
            </a:r>
          </a:p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Provide real-time queue status and resource availability through a dashboard.</a:t>
            </a:r>
          </a:p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Evaluate system efficiency using prediction accuracy and resource utilization metrics.</a:t>
            </a:r>
          </a:p>
          <a:p>
            <a:pPr algn="l">
              <a:lnSpc>
                <a:spcPts val="48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8"/>
            <a:chOff x="0" y="0"/>
            <a:chExt cx="14630400" cy="804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317"/>
            </a:xfrm>
            <a:custGeom>
              <a:avLst/>
              <a:gdLst/>
              <a:ahLst/>
              <a:cxnLst/>
              <a:rect r="r" b="b" t="t" l="l"/>
              <a:pathLst>
                <a:path h="804317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955" r="0" b="-29990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319782" y="1260463"/>
            <a:ext cx="7648436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20711" y="2870835"/>
            <a:ext cx="14490538" cy="619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Centralized platform for managing campus facilities, queues, and resources.</a:t>
            </a:r>
          </a:p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Digital token generation with queue-position tracking.</a:t>
            </a:r>
          </a:p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Waiting-time prediction using service duration and queue information.</a:t>
            </a:r>
          </a:p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Intelligent recommendations based on demand, availability, and capacity.</a:t>
            </a:r>
          </a:p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Analytics dashboard with congestion alerts and resource-allocation insights.</a:t>
            </a:r>
          </a:p>
          <a:p>
            <a:pPr algn="l">
              <a:lnSpc>
                <a:spcPts val="48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8"/>
            <a:chOff x="0" y="0"/>
            <a:chExt cx="14630400" cy="804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317"/>
            </a:xfrm>
            <a:custGeom>
              <a:avLst/>
              <a:gdLst/>
              <a:ahLst/>
              <a:cxnLst/>
              <a:rect r="r" b="b" t="t" l="l"/>
              <a:pathLst>
                <a:path h="804317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955" r="0" b="-29990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24000">
            <a:off x="5273798" y="247407"/>
            <a:ext cx="11808991" cy="9806139"/>
          </a:xfrm>
          <a:custGeom>
            <a:avLst/>
            <a:gdLst/>
            <a:ahLst/>
            <a:cxnLst/>
            <a:rect r="r" b="b" t="t" l="l"/>
            <a:pathLst>
              <a:path h="9806139" w="11808991">
                <a:moveTo>
                  <a:pt x="0" y="81970"/>
                </a:moveTo>
                <a:lnTo>
                  <a:pt x="11741103" y="0"/>
                </a:lnTo>
                <a:lnTo>
                  <a:pt x="11808991" y="9724170"/>
                </a:lnTo>
                <a:lnTo>
                  <a:pt x="67889" y="9806139"/>
                </a:lnTo>
                <a:lnTo>
                  <a:pt x="0" y="81970"/>
                </a:lnTo>
                <a:close/>
              </a:path>
            </a:pathLst>
          </a:custGeom>
          <a:blipFill>
            <a:blip r:embed="rId4"/>
            <a:stretch>
              <a:fillRect l="-225" t="-10368" r="-6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00980" y="2750177"/>
            <a:ext cx="4659917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Architecture Diagram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8"/>
            <a:chOff x="0" y="0"/>
            <a:chExt cx="14630400" cy="804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317"/>
            </a:xfrm>
            <a:custGeom>
              <a:avLst/>
              <a:gdLst/>
              <a:ahLst/>
              <a:cxnLst/>
              <a:rect r="r" b="b" t="t" l="l"/>
              <a:pathLst>
                <a:path h="804317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955" r="0" b="-29990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953841" y="485060"/>
            <a:ext cx="8380318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sz="45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1: Campus Facility, User and Queue Management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70150" y="2218760"/>
            <a:ext cx="8066239" cy="7553890"/>
            <a:chOff x="0" y="0"/>
            <a:chExt cx="2124442" cy="19895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4442" cy="1989502"/>
            </a:xfrm>
            <a:custGeom>
              <a:avLst/>
              <a:gdLst/>
              <a:ahLst/>
              <a:cxnLst/>
              <a:rect r="r" b="b" t="t" l="l"/>
              <a:pathLst>
                <a:path h="1989502" w="2124442">
                  <a:moveTo>
                    <a:pt x="32633" y="0"/>
                  </a:moveTo>
                  <a:lnTo>
                    <a:pt x="2091809" y="0"/>
                  </a:lnTo>
                  <a:cubicBezTo>
                    <a:pt x="2109831" y="0"/>
                    <a:pt x="2124442" y="14610"/>
                    <a:pt x="2124442" y="32633"/>
                  </a:cubicBezTo>
                  <a:lnTo>
                    <a:pt x="2124442" y="1956869"/>
                  </a:lnTo>
                  <a:cubicBezTo>
                    <a:pt x="2124442" y="1974891"/>
                    <a:pt x="2109831" y="1989502"/>
                    <a:pt x="2091809" y="1989502"/>
                  </a:cubicBezTo>
                  <a:lnTo>
                    <a:pt x="32633" y="1989502"/>
                  </a:lnTo>
                  <a:cubicBezTo>
                    <a:pt x="14610" y="1989502"/>
                    <a:pt x="0" y="1974891"/>
                    <a:pt x="0" y="1956869"/>
                  </a:cubicBezTo>
                  <a:lnTo>
                    <a:pt x="0" y="32633"/>
                  </a:lnTo>
                  <a:cubicBezTo>
                    <a:pt x="0" y="14610"/>
                    <a:pt x="14610" y="0"/>
                    <a:pt x="32633" y="0"/>
                  </a:cubicBezTo>
                  <a:close/>
                </a:path>
              </a:pathLst>
            </a:custGeom>
            <a:solidFill>
              <a:srgbClr val="CFE8E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24442" cy="2037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70150" y="2573655"/>
            <a:ext cx="7903599" cy="721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Manages student, staff, and administrator accounts.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Registers campus facilities, counters, and resource capacities.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Generates unique digital tokens for campus services.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Maintains queue order and tracks service status.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Stores user, facility, and queue records in MySQL.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995389" y="3328035"/>
            <a:ext cx="7053599" cy="519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Parameters: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 roles, facility type, queue length, token ID, service status.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</a:p>
          <a:p>
            <a:pPr algn="ctr">
              <a:lnSpc>
                <a:spcPts val="5039"/>
              </a:lnSpc>
              <a:spcBef>
                <a:spcPct val="0"/>
              </a:spcBef>
            </a:pP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Outcome: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Organized digital queues and centralized campus data management.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8"/>
            <a:chOff x="0" y="0"/>
            <a:chExt cx="14630400" cy="804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317"/>
            </a:xfrm>
            <a:custGeom>
              <a:avLst/>
              <a:gdLst/>
              <a:ahLst/>
              <a:cxnLst/>
              <a:rect r="r" b="b" t="t" l="l"/>
              <a:pathLst>
                <a:path h="804317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955" r="0" b="-29990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953841" y="485060"/>
            <a:ext cx="9193521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sz="45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2: Waiting-Time Prediction and Crowd Forecasting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70150" y="2218760"/>
            <a:ext cx="8066239" cy="7553890"/>
            <a:chOff x="0" y="0"/>
            <a:chExt cx="2124442" cy="19895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4442" cy="1989502"/>
            </a:xfrm>
            <a:custGeom>
              <a:avLst/>
              <a:gdLst/>
              <a:ahLst/>
              <a:cxnLst/>
              <a:rect r="r" b="b" t="t" l="l"/>
              <a:pathLst>
                <a:path h="1989502" w="2124442">
                  <a:moveTo>
                    <a:pt x="32633" y="0"/>
                  </a:moveTo>
                  <a:lnTo>
                    <a:pt x="2091809" y="0"/>
                  </a:lnTo>
                  <a:cubicBezTo>
                    <a:pt x="2109831" y="0"/>
                    <a:pt x="2124442" y="14610"/>
                    <a:pt x="2124442" y="32633"/>
                  </a:cubicBezTo>
                  <a:lnTo>
                    <a:pt x="2124442" y="1956869"/>
                  </a:lnTo>
                  <a:cubicBezTo>
                    <a:pt x="2124442" y="1974891"/>
                    <a:pt x="2109831" y="1989502"/>
                    <a:pt x="2091809" y="1989502"/>
                  </a:cubicBezTo>
                  <a:lnTo>
                    <a:pt x="32633" y="1989502"/>
                  </a:lnTo>
                  <a:cubicBezTo>
                    <a:pt x="14610" y="1989502"/>
                    <a:pt x="0" y="1974891"/>
                    <a:pt x="0" y="1956869"/>
                  </a:cubicBezTo>
                  <a:lnTo>
                    <a:pt x="0" y="32633"/>
                  </a:lnTo>
                  <a:cubicBezTo>
                    <a:pt x="0" y="14610"/>
                    <a:pt x="14610" y="0"/>
                    <a:pt x="32633" y="0"/>
                  </a:cubicBezTo>
                  <a:close/>
                </a:path>
              </a:pathLst>
            </a:custGeom>
            <a:solidFill>
              <a:srgbClr val="FCFFD5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24442" cy="2037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70150" y="2399347"/>
            <a:ext cx="8249210" cy="781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Estimates waiting time using queue length and service duration.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Calculates average service time from historical records.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Forecasts future demand over 15-, 30-, and 60-minute intervals.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Classifies congestion as Low, Moderate, High, or Critical.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Explains predictions using current queue and historical demand data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056379" y="3104404"/>
            <a:ext cx="7053599" cy="582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4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Parameters: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People waiting, service duration, active counters, historical arrivals.</a:t>
            </a: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5039"/>
              </a:lnSpc>
            </a:pPr>
            <a:r>
              <a:rPr lang="en-US" sz="4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Outcome: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More predictable waiting times and early identification of congestion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8"/>
            <a:chOff x="0" y="0"/>
            <a:chExt cx="14630400" cy="804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317"/>
            </a:xfrm>
            <a:custGeom>
              <a:avLst/>
              <a:gdLst/>
              <a:ahLst/>
              <a:cxnLst/>
              <a:rect r="r" b="b" t="t" l="l"/>
              <a:pathLst>
                <a:path h="804317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955" r="0" b="-29990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953841" y="485060"/>
            <a:ext cx="9193521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sz="45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3: Intelligent Resource Allocation and Scheduling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70150" y="2218760"/>
            <a:ext cx="8066239" cy="7553890"/>
            <a:chOff x="0" y="0"/>
            <a:chExt cx="2124442" cy="19895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4442" cy="1989502"/>
            </a:xfrm>
            <a:custGeom>
              <a:avLst/>
              <a:gdLst/>
              <a:ahLst/>
              <a:cxnLst/>
              <a:rect r="r" b="b" t="t" l="l"/>
              <a:pathLst>
                <a:path h="1989502" w="2124442">
                  <a:moveTo>
                    <a:pt x="32633" y="0"/>
                  </a:moveTo>
                  <a:lnTo>
                    <a:pt x="2091809" y="0"/>
                  </a:lnTo>
                  <a:cubicBezTo>
                    <a:pt x="2109831" y="0"/>
                    <a:pt x="2124442" y="14610"/>
                    <a:pt x="2124442" y="32633"/>
                  </a:cubicBezTo>
                  <a:lnTo>
                    <a:pt x="2124442" y="1956869"/>
                  </a:lnTo>
                  <a:cubicBezTo>
                    <a:pt x="2124442" y="1974891"/>
                    <a:pt x="2109831" y="1989502"/>
                    <a:pt x="2091809" y="1989502"/>
                  </a:cubicBezTo>
                  <a:lnTo>
                    <a:pt x="32633" y="1989502"/>
                  </a:lnTo>
                  <a:cubicBezTo>
                    <a:pt x="14610" y="1989502"/>
                    <a:pt x="0" y="1974891"/>
                    <a:pt x="0" y="1956869"/>
                  </a:cubicBezTo>
                  <a:lnTo>
                    <a:pt x="0" y="32633"/>
                  </a:lnTo>
                  <a:cubicBezTo>
                    <a:pt x="0" y="14610"/>
                    <a:pt x="14610" y="0"/>
                    <a:pt x="32633" y="0"/>
                  </a:cubicBezTo>
                  <a:close/>
                </a:path>
              </a:pathLst>
            </a:custGeom>
            <a:solidFill>
              <a:srgbClr val="DFFFD5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24442" cy="2037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70150" y="2562225"/>
            <a:ext cx="8249210" cy="721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Recommends less congested service counters.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Allocates staff and counters according to expected demand.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Tracks library seats, computers, and laboratory slots.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Prevents double bookings and resource-capacity violations.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Suggests alternative facilities or time slots when resources are unavailable.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995389" y="3032760"/>
            <a:ext cx="7053599" cy="646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4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Parameters: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Resource capacity, availability, staff count, expected demand, waiting-time target.</a:t>
            </a: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5039"/>
              </a:lnSpc>
            </a:pPr>
            <a:r>
              <a:rPr lang="en-US" sz="4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Outcome: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Better resource utilization and reduced avoidable waiting.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8"/>
            <a:chOff x="0" y="0"/>
            <a:chExt cx="14630400" cy="804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317"/>
            </a:xfrm>
            <a:custGeom>
              <a:avLst/>
              <a:gdLst/>
              <a:ahLst/>
              <a:cxnLst/>
              <a:rect r="r" b="b" t="t" l="l"/>
              <a:pathLst>
                <a:path h="804317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955" r="0" b="-29990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595591" y="555613"/>
            <a:ext cx="10799595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sz="45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4: Campus Analytics, Simulation and Performance Evaluation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70150" y="2218760"/>
            <a:ext cx="8066239" cy="7553890"/>
            <a:chOff x="0" y="0"/>
            <a:chExt cx="2124442" cy="19895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4442" cy="1989502"/>
            </a:xfrm>
            <a:custGeom>
              <a:avLst/>
              <a:gdLst/>
              <a:ahLst/>
              <a:cxnLst/>
              <a:rect r="r" b="b" t="t" l="l"/>
              <a:pathLst>
                <a:path h="1989502" w="2124442">
                  <a:moveTo>
                    <a:pt x="32633" y="0"/>
                  </a:moveTo>
                  <a:lnTo>
                    <a:pt x="2091809" y="0"/>
                  </a:lnTo>
                  <a:cubicBezTo>
                    <a:pt x="2109831" y="0"/>
                    <a:pt x="2124442" y="14610"/>
                    <a:pt x="2124442" y="32633"/>
                  </a:cubicBezTo>
                  <a:lnTo>
                    <a:pt x="2124442" y="1956869"/>
                  </a:lnTo>
                  <a:cubicBezTo>
                    <a:pt x="2124442" y="1974891"/>
                    <a:pt x="2109831" y="1989502"/>
                    <a:pt x="2091809" y="1989502"/>
                  </a:cubicBezTo>
                  <a:lnTo>
                    <a:pt x="32633" y="1989502"/>
                  </a:lnTo>
                  <a:cubicBezTo>
                    <a:pt x="14610" y="1989502"/>
                    <a:pt x="0" y="1974891"/>
                    <a:pt x="0" y="1956869"/>
                  </a:cubicBezTo>
                  <a:lnTo>
                    <a:pt x="0" y="32633"/>
                  </a:lnTo>
                  <a:cubicBezTo>
                    <a:pt x="0" y="14610"/>
                    <a:pt x="14610" y="0"/>
                    <a:pt x="32633" y="0"/>
                  </a:cubicBezTo>
                  <a:close/>
                </a:path>
              </a:pathLst>
            </a:custGeom>
            <a:solidFill>
              <a:srgbClr val="FFD5F7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24442" cy="2037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65860" y="2699385"/>
            <a:ext cx="8249210" cy="721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Displays queue status, estimated waits, and resource availability.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Generates historical facility and service reports.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Simulates changes such as adding counters or increasing staff.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Compares predicted waiting times with actual service results.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Evaluates queue correctness, prediction accuracy, and resource utilization.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995389" y="3032760"/>
            <a:ext cx="7053599" cy="582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4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Parameters: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Prediction error, average waiting time, utilization rate, response time.</a:t>
            </a: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5039"/>
              </a:lnSpc>
            </a:pPr>
            <a:r>
              <a:rPr lang="en-US" sz="4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Outcome: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Data-driven campus management and measurable system performance.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8"/>
            <a:chOff x="0" y="0"/>
            <a:chExt cx="14630400" cy="804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317"/>
            </a:xfrm>
            <a:custGeom>
              <a:avLst/>
              <a:gdLst/>
              <a:ahLst/>
              <a:cxnLst/>
              <a:rect r="r" b="b" t="t" l="l"/>
              <a:pathLst>
                <a:path h="804317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955" r="0" b="-29990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210125" y="1716386"/>
            <a:ext cx="12137498" cy="8056264"/>
          </a:xfrm>
          <a:custGeom>
            <a:avLst/>
            <a:gdLst/>
            <a:ahLst/>
            <a:cxnLst/>
            <a:rect r="r" b="b" t="t" l="l"/>
            <a:pathLst>
              <a:path h="8056264" w="12137498">
                <a:moveTo>
                  <a:pt x="0" y="0"/>
                </a:moveTo>
                <a:lnTo>
                  <a:pt x="12137498" y="0"/>
                </a:lnTo>
                <a:lnTo>
                  <a:pt x="12137498" y="8056264"/>
                </a:lnTo>
                <a:lnTo>
                  <a:pt x="0" y="80562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817868" y="657225"/>
            <a:ext cx="6652263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SAMPLE OUTPUT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8"/>
            <a:chOff x="0" y="0"/>
            <a:chExt cx="14630400" cy="804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317"/>
            </a:xfrm>
            <a:custGeom>
              <a:avLst/>
              <a:gdLst/>
              <a:ahLst/>
              <a:cxnLst/>
              <a:rect r="r" b="b" t="t" l="l"/>
              <a:pathLst>
                <a:path h="804317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955" r="0" b="-29990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315955" y="1260463"/>
            <a:ext cx="565609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ADVANTAGES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62759" y="2700338"/>
            <a:ext cx="12762483" cy="557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Reduces uncertainty about student waiting times.</a:t>
            </a:r>
          </a:p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Helps identify peak hours before congestion becomes severe.</a:t>
            </a:r>
          </a:p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Improves utilization of available staff and campus resources.</a:t>
            </a:r>
          </a:p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Reduces manual queue management and scheduling effort.</a:t>
            </a:r>
          </a:p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Supports transparent, data-driven campus decisions.</a:t>
            </a:r>
          </a:p>
          <a:p>
            <a:pPr algn="l">
              <a:lnSpc>
                <a:spcPts val="48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8"/>
            <a:chOff x="0" y="0"/>
            <a:chExt cx="14630400" cy="804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317"/>
            </a:xfrm>
            <a:custGeom>
              <a:avLst/>
              <a:gdLst/>
              <a:ahLst/>
              <a:cxnLst/>
              <a:rect r="r" b="b" t="t" l="l"/>
              <a:pathLst>
                <a:path h="804317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955" r="0" b="-29990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315955" y="1260463"/>
            <a:ext cx="565609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34177" y="2561272"/>
            <a:ext cx="13819646" cy="681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CampusFlow integrates queue management, prediction, and resource allocation.</a:t>
            </a:r>
          </a:p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C++ algorithms support efficient queue processing and decision-making.</a:t>
            </a:r>
          </a:p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Historical data enables demand forecasting and performance evaluation.</a:t>
            </a:r>
          </a:p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dashboard improves visibility into campus services and availability.</a:t>
            </a:r>
          </a:p>
          <a:p>
            <a:pPr algn="l" marL="879782" indent="-439891" lvl="1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system has the potential to improve campus service efficiency through measurable, data-driven optimization.</a:t>
            </a:r>
          </a:p>
          <a:p>
            <a:pPr algn="l">
              <a:lnSpc>
                <a:spcPts val="48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60111" y="3257550"/>
            <a:ext cx="12255698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78"/>
              </a:lnSpc>
              <a:spcBef>
                <a:spcPct val="0"/>
              </a:spcBef>
            </a:pPr>
            <a:r>
              <a:rPr lang="en-US" b="true" sz="1939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DAHUM4rzjRA</dc:identifier>
  <dcterms:modified xsi:type="dcterms:W3CDTF">2011-08-01T06:04:30Z</dcterms:modified>
  <cp:revision>1</cp:revision>
  <dc:title>C++ PRESENTATION1.pptx</dc:title>
</cp:coreProperties>
</file>